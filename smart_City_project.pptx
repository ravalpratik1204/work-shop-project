
<file path=[Content_Types].xml><?xml version="1.0" encoding="utf-8"?>
<Types xmlns="http://schemas.openxmlformats.org/package/2006/content-types">
  <Default Extension="bin" ContentType="image/unknown"/>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4"/>
  </p:sldMasterIdLst>
  <p:notesMasterIdLst>
    <p:notesMasterId r:id="rId17"/>
  </p:notesMasterIdLst>
  <p:sldIdLst>
    <p:sldId id="1303" r:id="rId5"/>
    <p:sldId id="1311" r:id="rId6"/>
    <p:sldId id="1310" r:id="rId7"/>
    <p:sldId id="1312" r:id="rId8"/>
    <p:sldId id="1301" r:id="rId9"/>
    <p:sldId id="1313" r:id="rId10"/>
    <p:sldId id="1302" r:id="rId11"/>
    <p:sldId id="1306" r:id="rId12"/>
    <p:sldId id="1307" r:id="rId13"/>
    <p:sldId id="1295" r:id="rId14"/>
    <p:sldId id="1296" r:id="rId15"/>
    <p:sldId id="1250"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userDrawn="1">
          <p15:clr>
            <a:srgbClr val="A4A3A4"/>
          </p15:clr>
        </p15:guide>
        <p15:guide id="2" pos="192" userDrawn="1">
          <p15:clr>
            <a:srgbClr val="A4A3A4"/>
          </p15:clr>
        </p15:guide>
        <p15:guide id="3" orient="horz" pos="1080" userDrawn="1">
          <p15:clr>
            <a:srgbClr val="A4A3A4"/>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go="http://customooxmlschemas.google.com/" xmlns=""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EFF"/>
    <a:srgbClr val="F9FFEB"/>
    <a:srgbClr val="EDFFC5"/>
    <a:srgbClr val="7FBA00"/>
    <a:srgbClr val="EBEEF9"/>
    <a:srgbClr val="213164"/>
    <a:srgbClr val="FED500"/>
    <a:srgbClr val="484F9E"/>
    <a:srgbClr val="F6AB1B"/>
    <a:srgbClr val="F7BA1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85882" autoAdjust="0"/>
  </p:normalViewPr>
  <p:slideViewPr>
    <p:cSldViewPr snapToGrid="0">
      <p:cViewPr varScale="1">
        <p:scale>
          <a:sx n="71" d="100"/>
          <a:sy n="71" d="100"/>
        </p:scale>
        <p:origin x="888" y="48"/>
      </p:cViewPr>
      <p:guideLst>
        <p:guide orient="horz" pos="792"/>
        <p:guide pos="192"/>
        <p:guide orient="horz" pos="10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3" Type="http://schemas.openxmlformats.org/officeDocument/2006/relationships/customXml" Target="../customXml/item3.xml"/><Relationship Id="rId222"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2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20" Type="http://customschemas.google.com/relationships/presentationmetadata" Target="metadata"/><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22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30802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66F48-9D21-782B-817D-628E00E79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EA01B1-8FFD-B3B2-8C58-D03C141EAAFE}"/>
              </a:ext>
            </a:extLst>
          </p:cNvPr>
          <p:cNvSpPr>
            <a:spLocks noGrp="1" noRot="1" noChangeAspect="1"/>
          </p:cNvSpPr>
          <p:nvPr>
            <p:ph type="sldImg"/>
          </p:nvPr>
        </p:nvSpPr>
        <p:spPr>
          <a:xfrm>
            <a:off x="533400" y="763588"/>
            <a:ext cx="6704013" cy="3771900"/>
          </a:xfrm>
        </p:spPr>
      </p:sp>
      <p:sp>
        <p:nvSpPr>
          <p:cNvPr id="3" name="Notes Placeholder 2">
            <a:extLst>
              <a:ext uri="{FF2B5EF4-FFF2-40B4-BE49-F238E27FC236}">
                <a16:creationId xmlns:a16="http://schemas.microsoft.com/office/drawing/2014/main" id="{24391DBC-FC69-5469-D390-5D98A124241B}"/>
              </a:ext>
            </a:extLst>
          </p:cNvPr>
          <p:cNvSpPr>
            <a:spLocks noGrp="1"/>
          </p:cNvSpPr>
          <p:nvPr>
            <p:ph type="body" idx="1"/>
          </p:nvPr>
        </p:nvSpPr>
        <p:spPr/>
        <p:txBody>
          <a:bodyPr/>
          <a:lstStyle/>
          <a:p>
            <a:pPr marL="158750" indent="0">
              <a:buNone/>
            </a:pPr>
            <a:endParaRPr lang="en-US" b="1" dirty="0"/>
          </a:p>
        </p:txBody>
      </p:sp>
      <p:sp>
        <p:nvSpPr>
          <p:cNvPr id="4" name="Slide Number Placeholder 3">
            <a:extLst>
              <a:ext uri="{FF2B5EF4-FFF2-40B4-BE49-F238E27FC236}">
                <a16:creationId xmlns:a16="http://schemas.microsoft.com/office/drawing/2014/main" id="{70FE33EE-4789-F264-0283-0D77B6B7A50C}"/>
              </a:ext>
            </a:extLst>
          </p:cNvPr>
          <p:cNvSpPr>
            <a:spLocks noGrp="1"/>
          </p:cNvSpPr>
          <p:nvPr>
            <p:ph type="sldNum"/>
          </p:nvPr>
        </p:nvSpPr>
        <p:spPr/>
        <p:txBody>
          <a:bodyPr/>
          <a:lstStyle/>
          <a:p>
            <a:pPr algn="r"/>
            <a:fld id="{023E65BA-FB28-47C4-A217-44F00343302E}" type="slidenum">
              <a:rPr lang="en-US" sz="1400" b="0" strike="noStrike" spc="-1">
                <a:latin typeface="Times New Roman"/>
              </a:rPr>
              <a:t>1</a:t>
            </a:fld>
            <a:endParaRPr lang="en-US" sz="1400" b="0" strike="noStrike" spc="-1">
              <a:latin typeface="Times New Roman"/>
            </a:endParaRPr>
          </a:p>
        </p:txBody>
      </p:sp>
    </p:spTree>
    <p:extLst>
      <p:ext uri="{BB962C8B-B14F-4D97-AF65-F5344CB8AC3E}">
        <p14:creationId xmlns:p14="http://schemas.microsoft.com/office/powerpoint/2010/main" val="3525481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B80395F-E9B0-9621-C4E3-FD7FF72706EA}"/>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63215563-4F70-DE4A-C34C-638BAB5FBB3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9344126E-2736-A4F6-D565-28E63507C3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51934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16580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113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D6D3F29-8BDE-7163-D2D5-EE57DFC9C90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41EE912-6552-9CC6-CD6B-6B980308918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6F97443E-66AE-5448-3379-C79C608008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29099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740807C-4F7F-7350-DAC5-C698CAF95294}"/>
            </a:ext>
          </a:extLst>
        </p:cNvPr>
        <p:cNvGrpSpPr/>
        <p:nvPr/>
      </p:nvGrpSpPr>
      <p:grpSpPr>
        <a:xfrm>
          <a:off x="0" y="0"/>
          <a:ext cx="0" cy="0"/>
          <a:chOff x="0" y="0"/>
          <a:chExt cx="0" cy="0"/>
        </a:xfrm>
      </p:grpSpPr>
      <p:sp>
        <p:nvSpPr>
          <p:cNvPr id="58" name="Google Shape;58;g5fab984687_2_0:notes">
            <a:extLst>
              <a:ext uri="{FF2B5EF4-FFF2-40B4-BE49-F238E27FC236}">
                <a16:creationId xmlns:a16="http://schemas.microsoft.com/office/drawing/2014/main" id="{A6354546-E6C2-39A5-0CD8-6088FB6DE00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a:extLst>
              <a:ext uri="{FF2B5EF4-FFF2-40B4-BE49-F238E27FC236}">
                <a16:creationId xmlns:a16="http://schemas.microsoft.com/office/drawing/2014/main" id="{5765A9FB-648E-959C-28ED-38B9E68061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590686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8123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endParaRPr lang="en-US" b="1"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38455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r>
              <a:rPr lang="en-US" b="1" spc="-5">
                <a:solidFill>
                  <a:srgbClr val="223366"/>
                </a:solidFill>
              </a:rPr>
              <a:t>Thank You !!</a:t>
            </a:r>
            <a:endParaRPr lang="en-US" sz="1100" b="1" spc="-5">
              <a:solidFill>
                <a:srgbClr val="223366"/>
              </a:solidFill>
            </a:endParaRPr>
          </a:p>
        </p:txBody>
      </p:sp>
    </p:spTree>
    <p:extLst>
      <p:ext uri="{BB962C8B-B14F-4D97-AF65-F5344CB8AC3E}">
        <p14:creationId xmlns:p14="http://schemas.microsoft.com/office/powerpoint/2010/main" val="254420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userDrawn="1"/>
        </p:nvPicPr>
        <p:blipFill rotWithShape="1">
          <a:blip r:embed="rId5">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userDrawn="1"/>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userDrawn="1"/>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userDrawn="1"/>
        </p:nvPicPr>
        <p:blipFill rotWithShape="1">
          <a:blip r:embed="rId6">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userDrawn="1"/>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701" r:id="rId1"/>
    <p:sldLayoutId id="2147483714" r:id="rId2"/>
    <p:sldLayoutId id="2147483727"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bin"/><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bin"/><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107AE-7741-CFD9-BE8D-2CAE1C48C6B7}"/>
            </a:ext>
          </a:extLst>
        </p:cNvPr>
        <p:cNvGrpSpPr/>
        <p:nvPr/>
      </p:nvGrpSpPr>
      <p:grpSpPr>
        <a:xfrm>
          <a:off x="0" y="0"/>
          <a:ext cx="0" cy="0"/>
          <a:chOff x="0" y="0"/>
          <a:chExt cx="0" cy="0"/>
        </a:xfrm>
      </p:grpSpPr>
      <p:pic>
        <p:nvPicPr>
          <p:cNvPr id="6" name="Picture 5" descr="A person sitting at a desk with a computer&#10;&#10;Description automatically generated">
            <a:extLst>
              <a:ext uri="{FF2B5EF4-FFF2-40B4-BE49-F238E27FC236}">
                <a16:creationId xmlns:a16="http://schemas.microsoft.com/office/drawing/2014/main" id="{2F44FAA3-CD3A-C2DE-34BE-DD7BBE78D64E}"/>
              </a:ext>
            </a:extLst>
          </p:cNvPr>
          <p:cNvPicPr>
            <a:picLocks noChangeAspect="1"/>
          </p:cNvPicPr>
          <p:nvPr/>
        </p:nvPicPr>
        <p:blipFill>
          <a:blip r:embed="rId3"/>
          <a:stretch>
            <a:fillRect/>
          </a:stretch>
        </p:blipFill>
        <p:spPr>
          <a:xfrm>
            <a:off x="-222250" y="0"/>
            <a:ext cx="12192000" cy="6858000"/>
          </a:xfrm>
          <a:prstGeom prst="rect">
            <a:avLst/>
          </a:prstGeom>
        </p:spPr>
      </p:pic>
      <p:sp>
        <p:nvSpPr>
          <p:cNvPr id="5" name="Rectangle: Rounded Corners 4">
            <a:extLst>
              <a:ext uri="{FF2B5EF4-FFF2-40B4-BE49-F238E27FC236}">
                <a16:creationId xmlns:a16="http://schemas.microsoft.com/office/drawing/2014/main" id="{DF167754-280A-4FED-560B-C3D6EB2185DE}"/>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CA298952-1BDB-C0AE-516A-649A0AADEA76}"/>
              </a:ext>
            </a:extLst>
          </p:cNvPr>
          <p:cNvSpPr txBox="1"/>
          <p:nvPr/>
        </p:nvSpPr>
        <p:spPr>
          <a:xfrm>
            <a:off x="6096000" y="2054549"/>
            <a:ext cx="4663439" cy="1569660"/>
          </a:xfrm>
          <a:prstGeom prst="rect">
            <a:avLst/>
          </a:prstGeom>
          <a:noFill/>
        </p:spPr>
        <p:txBody>
          <a:bodyPr wrap="square" rtlCol="0">
            <a:spAutoFit/>
          </a:bodyPr>
          <a:lstStyle/>
          <a:p>
            <a:r>
              <a:rPr lang="en-IN" sz="3200" b="1" dirty="0">
                <a:solidFill>
                  <a:schemeClr val="bg1">
                    <a:lumMod val="95000"/>
                  </a:schemeClr>
                </a:solidFill>
              </a:rPr>
              <a:t>AQI ANALYSIS ,ALERT AND PREDICT SYSTEM</a:t>
            </a:r>
            <a:endParaRPr lang="en-US" sz="3200" b="1" dirty="0">
              <a:solidFill>
                <a:schemeClr val="bg1">
                  <a:lumMod val="95000"/>
                </a:schemeClr>
              </a:solidFill>
              <a:latin typeface="Arial" panose="020B0604020202020204" pitchFamily="34" charset="0"/>
              <a:cs typeface="Arial" panose="020B0604020202020204" pitchFamily="34" charset="0"/>
            </a:endParaRPr>
          </a:p>
        </p:txBody>
      </p:sp>
      <p:grpSp>
        <p:nvGrpSpPr>
          <p:cNvPr id="4" name="Group 3">
            <a:extLst>
              <a:ext uri="{FF2B5EF4-FFF2-40B4-BE49-F238E27FC236}">
                <a16:creationId xmlns:a16="http://schemas.microsoft.com/office/drawing/2014/main" id="{B14EC782-EC27-B496-4307-079310BF069F}"/>
              </a:ext>
            </a:extLst>
          </p:cNvPr>
          <p:cNvGrpSpPr/>
          <p:nvPr/>
        </p:nvGrpSpPr>
        <p:grpSpPr>
          <a:xfrm>
            <a:off x="6096000" y="707886"/>
            <a:ext cx="4218482" cy="664378"/>
            <a:chOff x="2375536" y="1112060"/>
            <a:chExt cx="5261230" cy="828603"/>
          </a:xfrm>
        </p:grpSpPr>
        <p:pic>
          <p:nvPicPr>
            <p:cNvPr id="19" name="Picture 18" descr="A close up of a logo&#10;&#10;Description automatically generated">
              <a:extLst>
                <a:ext uri="{FF2B5EF4-FFF2-40B4-BE49-F238E27FC236}">
                  <a16:creationId xmlns:a16="http://schemas.microsoft.com/office/drawing/2014/main" id="{6BB3DC08-2A20-1075-63BC-E8C04F7BBC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61375" y="1270168"/>
              <a:ext cx="1575391" cy="512386"/>
            </a:xfrm>
            <a:prstGeom prst="rect">
              <a:avLst/>
            </a:prstGeom>
          </p:spPr>
        </p:pic>
        <p:pic>
          <p:nvPicPr>
            <p:cNvPr id="21" name="Picture 20" descr="A yellow and red shell logo&#10;&#10;Description automatically generated">
              <a:extLst>
                <a:ext uri="{FF2B5EF4-FFF2-40B4-BE49-F238E27FC236}">
                  <a16:creationId xmlns:a16="http://schemas.microsoft.com/office/drawing/2014/main" id="{B15A103C-65F3-1F0A-3229-6389A232569A}"/>
                </a:ext>
              </a:extLst>
            </p:cNvPr>
            <p:cNvPicPr>
              <a:picLocks noChangeAspect="1"/>
            </p:cNvPicPr>
            <p:nvPr/>
          </p:nvPicPr>
          <p:blipFill>
            <a:blip r:embed="rId5"/>
            <a:stretch>
              <a:fillRect/>
            </a:stretch>
          </p:blipFill>
          <p:spPr>
            <a:xfrm>
              <a:off x="2375536" y="1112060"/>
              <a:ext cx="985475" cy="828603"/>
            </a:xfrm>
            <a:prstGeom prst="rect">
              <a:avLst/>
            </a:prstGeom>
          </p:spPr>
        </p:pic>
      </p:grpSp>
      <p:sp>
        <p:nvSpPr>
          <p:cNvPr id="2" name="TextBox 1">
            <a:extLst>
              <a:ext uri="{FF2B5EF4-FFF2-40B4-BE49-F238E27FC236}">
                <a16:creationId xmlns:a16="http://schemas.microsoft.com/office/drawing/2014/main" id="{F6F19223-1516-B9D6-0D92-8A75320E6DC6}"/>
              </a:ext>
            </a:extLst>
          </p:cNvPr>
          <p:cNvSpPr txBox="1"/>
          <p:nvPr/>
        </p:nvSpPr>
        <p:spPr>
          <a:xfrm>
            <a:off x="4816153" y="3624217"/>
            <a:ext cx="6234468" cy="2339102"/>
          </a:xfrm>
          <a:prstGeom prst="rect">
            <a:avLst/>
          </a:prstGeom>
          <a:noFill/>
        </p:spPr>
        <p:txBody>
          <a:bodyPr wrap="square" rtlCol="0">
            <a:spAutoFit/>
          </a:bodyPr>
          <a:lstStyle/>
          <a:p>
            <a:pPr algn="ctr"/>
            <a:r>
              <a:rPr lang="en-GB" sz="2000" b="1" dirty="0">
                <a:solidFill>
                  <a:schemeClr val="bg1"/>
                </a:solidFill>
                <a:latin typeface="Bahnschrift Light" panose="020B0502040204020203" pitchFamily="34" charset="0"/>
              </a:rPr>
              <a:t>Atmiya University</a:t>
            </a:r>
          </a:p>
          <a:p>
            <a:r>
              <a:rPr lang="en-GB" sz="1800" dirty="0">
                <a:solidFill>
                  <a:schemeClr val="bg1"/>
                </a:solidFill>
                <a:latin typeface="Bahnschrift Light" panose="020B0502040204020203" pitchFamily="34" charset="0"/>
              </a:rPr>
              <a:t>Team : Suraj Dube(Team </a:t>
            </a:r>
            <a:r>
              <a:rPr lang="en-IN" sz="1800" dirty="0">
                <a:solidFill>
                  <a:schemeClr val="bg1"/>
                </a:solidFill>
                <a:latin typeface="Bahnschrift Light" panose="020B0502040204020203" pitchFamily="34" charset="0"/>
              </a:rPr>
              <a:t>Leader</a:t>
            </a:r>
            <a:r>
              <a:rPr lang="en-GB" sz="1800" dirty="0">
                <a:solidFill>
                  <a:schemeClr val="bg1"/>
                </a:solidFill>
                <a:latin typeface="Bahnschrift Light" panose="020B0502040204020203" pitchFamily="34" charset="0"/>
              </a:rPr>
              <a:t>) , Pratik Raval , Meet </a:t>
            </a:r>
            <a:r>
              <a:rPr lang="en-GB" sz="1800" dirty="0" err="1">
                <a:solidFill>
                  <a:schemeClr val="bg1"/>
                </a:solidFill>
                <a:latin typeface="Bahnschrift Light" panose="020B0502040204020203" pitchFamily="34" charset="0"/>
              </a:rPr>
              <a:t>Lalkiya</a:t>
            </a:r>
            <a:r>
              <a:rPr lang="en-GB" sz="1800" dirty="0">
                <a:solidFill>
                  <a:schemeClr val="bg1"/>
                </a:solidFill>
                <a:latin typeface="Bahnschrift Light" panose="020B0502040204020203" pitchFamily="34" charset="0"/>
              </a:rPr>
              <a:t>  , </a:t>
            </a:r>
            <a:r>
              <a:rPr lang="en-GB" sz="1800" dirty="0" err="1">
                <a:solidFill>
                  <a:schemeClr val="bg1"/>
                </a:solidFill>
                <a:latin typeface="Bahnschrift Light" panose="020B0502040204020203" pitchFamily="34" charset="0"/>
              </a:rPr>
              <a:t>Souvick</a:t>
            </a:r>
            <a:r>
              <a:rPr lang="en-GB" sz="1800" dirty="0">
                <a:solidFill>
                  <a:schemeClr val="bg1"/>
                </a:solidFill>
                <a:latin typeface="Bahnschrift Light" panose="020B0502040204020203" pitchFamily="34" charset="0"/>
              </a:rPr>
              <a:t> Mete</a:t>
            </a:r>
          </a:p>
          <a:p>
            <a:r>
              <a:rPr lang="en-GB" sz="1800" dirty="0">
                <a:solidFill>
                  <a:schemeClr val="bg1"/>
                </a:solidFill>
                <a:latin typeface="Bahnschrift Light" panose="020B0502040204020203" pitchFamily="34" charset="0"/>
              </a:rPr>
              <a:t>Team ID : S4F_CP_Team_50743</a:t>
            </a:r>
          </a:p>
          <a:p>
            <a:r>
              <a:rPr lang="en-IN" sz="1800" dirty="0">
                <a:solidFill>
                  <a:schemeClr val="bg1"/>
                </a:solidFill>
                <a:latin typeface="Bahnschrift Light" panose="020B0502040204020203" pitchFamily="34" charset="0"/>
              </a:rPr>
              <a:t>Mentor : Rohit </a:t>
            </a:r>
            <a:r>
              <a:rPr lang="en-IN" sz="1800" dirty="0" err="1">
                <a:solidFill>
                  <a:schemeClr val="bg1"/>
                </a:solidFill>
                <a:latin typeface="Bahnschrift Light" panose="020B0502040204020203" pitchFamily="34" charset="0"/>
              </a:rPr>
              <a:t>Bhadauriya</a:t>
            </a:r>
            <a:endParaRPr lang="en-GB" sz="1800" dirty="0">
              <a:solidFill>
                <a:schemeClr val="bg1"/>
              </a:solidFill>
              <a:latin typeface="Bahnschrift Light" panose="020B0502040204020203" pitchFamily="34" charset="0"/>
            </a:endParaRPr>
          </a:p>
          <a:p>
            <a:r>
              <a:rPr lang="en-GB" sz="1800" dirty="0" err="1">
                <a:solidFill>
                  <a:schemeClr val="bg1"/>
                </a:solidFill>
                <a:latin typeface="Bahnschrift Light" panose="020B0502040204020203" pitchFamily="34" charset="0"/>
              </a:rPr>
              <a:t>Github</a:t>
            </a:r>
            <a:r>
              <a:rPr lang="en-GB" sz="1800" dirty="0">
                <a:solidFill>
                  <a:schemeClr val="bg1"/>
                </a:solidFill>
                <a:latin typeface="Bahnschrift Light" panose="020B0502040204020203" pitchFamily="34" charset="0"/>
              </a:rPr>
              <a:t> link : </a:t>
            </a:r>
            <a:r>
              <a:rPr lang="en-GB" sz="1800" dirty="0">
                <a:solidFill>
                  <a:schemeClr val="accent5">
                    <a:lumMod val="60000"/>
                    <a:lumOff val="40000"/>
                  </a:schemeClr>
                </a:solidFill>
                <a:latin typeface="Bahnschrift Light" panose="020B0502040204020203" pitchFamily="34" charset="0"/>
              </a:rPr>
              <a:t>https://github.com/RavalPratik1204/Work-Shop-Project.git</a:t>
            </a:r>
          </a:p>
          <a:p>
            <a:r>
              <a:rPr lang="en-GB" sz="1800" dirty="0">
                <a:solidFill>
                  <a:schemeClr val="bg1"/>
                </a:solidFill>
                <a:latin typeface="Bahnschrift Light" panose="020B0502040204020203" pitchFamily="34" charset="0"/>
              </a:rPr>
              <a:t>Date : 8 </a:t>
            </a:r>
            <a:r>
              <a:rPr lang="en-GB" sz="1800" dirty="0" err="1">
                <a:solidFill>
                  <a:schemeClr val="bg1"/>
                </a:solidFill>
                <a:latin typeface="Bahnschrift Light" panose="020B0502040204020203" pitchFamily="34" charset="0"/>
              </a:rPr>
              <a:t>jan</a:t>
            </a:r>
            <a:r>
              <a:rPr lang="en-GB" sz="1800" dirty="0">
                <a:solidFill>
                  <a:schemeClr val="bg1"/>
                </a:solidFill>
                <a:latin typeface="Bahnschrift Light" panose="020B0502040204020203" pitchFamily="34" charset="0"/>
              </a:rPr>
              <a:t> 2026</a:t>
            </a:r>
            <a:endParaRPr lang="en-IN" sz="1800" dirty="0">
              <a:solidFill>
                <a:schemeClr val="bg1"/>
              </a:solidFill>
              <a:latin typeface="Bahnschrift Light" panose="020B0502040204020203" pitchFamily="34" charset="0"/>
            </a:endParaRPr>
          </a:p>
        </p:txBody>
      </p:sp>
    </p:spTree>
    <p:extLst>
      <p:ext uri="{BB962C8B-B14F-4D97-AF65-F5344CB8AC3E}">
        <p14:creationId xmlns:p14="http://schemas.microsoft.com/office/powerpoint/2010/main" val="498854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AE32B84-53E2-4E2A-8E91-F8E091F71B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9887" y="1600604"/>
            <a:ext cx="6452932" cy="3905097"/>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extLst>
      <p:ext uri="{BB962C8B-B14F-4D97-AF65-F5344CB8AC3E}">
        <p14:creationId xmlns:p14="http://schemas.microsoft.com/office/powerpoint/2010/main" val="782242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EAFFD69-8A93-ACB5-F2C9-A28EC6902F1C}"/>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A7804F0F-D945-868D-6989-BC8F35292AFC}"/>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Dataset Overview</a:t>
            </a:r>
          </a:p>
        </p:txBody>
      </p:sp>
      <p:sp>
        <p:nvSpPr>
          <p:cNvPr id="2" name="Content Placeholder 2">
            <a:extLst>
              <a:ext uri="{FF2B5EF4-FFF2-40B4-BE49-F238E27FC236}">
                <a16:creationId xmlns:a16="http://schemas.microsoft.com/office/drawing/2014/main" id="{517E990F-3D74-1CD2-E0DE-BA7D8581226A}"/>
              </a:ext>
            </a:extLst>
          </p:cNvPr>
          <p:cNvSpPr txBox="1">
            <a:spLocks/>
          </p:cNvSpPr>
          <p:nvPr/>
        </p:nvSpPr>
        <p:spPr>
          <a:xfrm>
            <a:off x="202070" y="1730829"/>
            <a:ext cx="11760433" cy="452596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IN" sz="2000" b="1" dirty="0">
                <a:latin typeface="Bahnschrift Light" panose="020B0502040204020203" pitchFamily="34" charset="0"/>
                <a:cs typeface="Arial" panose="020B0604020202020204" pitchFamily="34" charset="0"/>
              </a:rPr>
              <a:t>Dataset Description :</a:t>
            </a:r>
          </a:p>
          <a:p>
            <a:pPr marL="0" indent="0">
              <a:buNone/>
            </a:pPr>
            <a:r>
              <a:rPr lang="en-GB" sz="2000" dirty="0">
                <a:latin typeface="Bahnschrift Light" panose="020B0502040204020203" pitchFamily="34" charset="0"/>
                <a:cs typeface="Arial" panose="020B0604020202020204" pitchFamily="34" charset="0"/>
              </a:rPr>
              <a:t>	</a:t>
            </a:r>
          </a:p>
          <a:p>
            <a:pPr marL="0" indent="0" algn="just">
              <a:buNone/>
            </a:pPr>
            <a:r>
              <a:rPr lang="en-GB" sz="2000" dirty="0">
                <a:latin typeface="Bahnschrift Light" panose="020B0502040204020203" pitchFamily="34" charset="0"/>
                <a:cs typeface="Arial" panose="020B0604020202020204" pitchFamily="34" charset="0"/>
              </a:rPr>
              <a:t>	</a:t>
            </a:r>
            <a:r>
              <a:rPr lang="en-GB" dirty="0">
                <a:latin typeface="Bahnschrift Light" panose="020B0502040204020203" pitchFamily="34" charset="0"/>
                <a:cs typeface="Arial" panose="020B0604020202020204" pitchFamily="34" charset="0"/>
              </a:rPr>
              <a:t>A smart-city air quality dataset with timestamped sensor readings (PM2.5, PM10, CO, NO₂, SO₂, O₃), temperature, humidity, traffic density, and location data, used to </a:t>
            </a:r>
            <a:r>
              <a:rPr lang="en-GB" dirty="0" err="1">
                <a:latin typeface="Bahnschrift Light" panose="020B0502040204020203" pitchFamily="34" charset="0"/>
                <a:cs typeface="Arial" panose="020B0604020202020204" pitchFamily="34" charset="0"/>
              </a:rPr>
              <a:t>analyze</a:t>
            </a:r>
            <a:r>
              <a:rPr lang="en-GB" dirty="0">
                <a:latin typeface="Bahnschrift Light" panose="020B0502040204020203" pitchFamily="34" charset="0"/>
                <a:cs typeface="Arial" panose="020B0604020202020204" pitchFamily="34" charset="0"/>
              </a:rPr>
              <a:t> pollution trends and predict air quality levels or hazardous conditions.</a:t>
            </a:r>
            <a:endParaRPr lang="en-US" dirty="0">
              <a:latin typeface="Bahnschrift Light" panose="020B0502040204020203" pitchFamily="34" charset="0"/>
              <a:cs typeface="Arial" panose="020B0604020202020204" pitchFamily="34" charset="0"/>
            </a:endParaRPr>
          </a:p>
          <a:p>
            <a:pPr algn="just"/>
            <a:r>
              <a:rPr lang="en-US" dirty="0">
                <a:latin typeface="Bahnschrift Light" panose="020B0502040204020203" pitchFamily="34" charset="0"/>
                <a:cs typeface="Arial" panose="020B0604020202020204" pitchFamily="34" charset="0"/>
              </a:rPr>
              <a:t>Data Preprocessing:</a:t>
            </a:r>
          </a:p>
          <a:p>
            <a:endParaRPr lang="en-US" dirty="0">
              <a:latin typeface="Bahnschrift Light" panose="020B0502040204020203" pitchFamily="34" charset="0"/>
              <a:cs typeface="Arial" panose="020B0604020202020204" pitchFamily="34" charset="0"/>
            </a:endParaRPr>
          </a:p>
          <a:p>
            <a:br>
              <a:rPr lang="en-US" dirty="0">
                <a:latin typeface="Bahnschrift Light" panose="020B0502040204020203" pitchFamily="34" charset="0"/>
                <a:cs typeface="Arial" panose="020B0604020202020204" pitchFamily="34" charset="0"/>
              </a:rPr>
            </a:br>
            <a:endParaRPr lang="en-US" dirty="0">
              <a:latin typeface="Bahnschrift Light" panose="020B0502040204020203" pitchFamily="34" charset="0"/>
              <a:cs typeface="Arial" panose="020B0604020202020204" pitchFamily="34" charset="0"/>
            </a:endParaRPr>
          </a:p>
        </p:txBody>
      </p:sp>
      <p:pic>
        <p:nvPicPr>
          <p:cNvPr id="8" name="Picture 7">
            <a:extLst>
              <a:ext uri="{FF2B5EF4-FFF2-40B4-BE49-F238E27FC236}">
                <a16:creationId xmlns:a16="http://schemas.microsoft.com/office/drawing/2014/main" id="{A62BC8E8-1951-438A-912D-1705861B99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5673" y="3879352"/>
            <a:ext cx="5832071" cy="237744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79379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872E1D-11CD-4E50-998E-F21EBAE7EC0A}"/>
              </a:ext>
            </a:extLst>
          </p:cNvPr>
          <p:cNvSpPr/>
          <p:nvPr/>
        </p:nvSpPr>
        <p:spPr>
          <a:xfrm>
            <a:off x="204395" y="1412823"/>
            <a:ext cx="11790381" cy="2742995"/>
          </a:xfrm>
          <a:prstGeom prst="rect">
            <a:avLst/>
          </a:prstGeom>
        </p:spPr>
        <p:txBody>
          <a:bodyPr wrap="square">
            <a:spAutoFit/>
          </a:bodyPr>
          <a:lstStyle/>
          <a:p>
            <a:pPr>
              <a:lnSpc>
                <a:spcPct val="150000"/>
              </a:lnSpc>
            </a:pPr>
            <a:r>
              <a:rPr lang="en-GB" sz="2400" b="1" dirty="0">
                <a:latin typeface="Bahnschrift Light" panose="020B0502040204020203" pitchFamily="34" charset="0"/>
                <a:cs typeface="Arial" panose="020B0604020202020204" pitchFamily="34" charset="0"/>
              </a:rPr>
              <a:t>Data </a:t>
            </a:r>
            <a:r>
              <a:rPr lang="en-GB" sz="2400" b="1" dirty="0" err="1">
                <a:latin typeface="Bahnschrift Light" panose="020B0502040204020203" pitchFamily="34" charset="0"/>
                <a:cs typeface="Arial" panose="020B0604020202020204" pitchFamily="34" charset="0"/>
              </a:rPr>
              <a:t>Preprocessing</a:t>
            </a:r>
            <a:r>
              <a:rPr lang="en-GB" sz="2400" b="1" dirty="0">
                <a:latin typeface="Bahnschrift Light" panose="020B0502040204020203" pitchFamily="34" charset="0"/>
                <a:cs typeface="Arial" panose="020B0604020202020204" pitchFamily="34" charset="0"/>
              </a:rPr>
              <a:t>:</a:t>
            </a:r>
          </a:p>
          <a:p>
            <a:pPr algn="just">
              <a:lnSpc>
                <a:spcPct val="150000"/>
              </a:lnSpc>
            </a:pPr>
            <a:br>
              <a:rPr lang="en-GB" dirty="0">
                <a:latin typeface="Bahnschrift Light" panose="020B0502040204020203" pitchFamily="34" charset="0"/>
                <a:cs typeface="Arial" panose="020B0604020202020204" pitchFamily="34" charset="0"/>
              </a:rPr>
            </a:br>
            <a:r>
              <a:rPr lang="en-GB" dirty="0">
                <a:latin typeface="Bahnschrift Light" panose="020B0502040204020203" pitchFamily="34" charset="0"/>
                <a:cs typeface="Arial" panose="020B0604020202020204" pitchFamily="34" charset="0"/>
              </a:rPr>
              <a:t>	Data </a:t>
            </a:r>
            <a:r>
              <a:rPr lang="en-GB" dirty="0" err="1">
                <a:latin typeface="Bahnschrift Light" panose="020B0502040204020203" pitchFamily="34" charset="0"/>
                <a:cs typeface="Arial" panose="020B0604020202020204" pitchFamily="34" charset="0"/>
              </a:rPr>
              <a:t>preprocessing</a:t>
            </a:r>
            <a:r>
              <a:rPr lang="en-GB" dirty="0">
                <a:latin typeface="Bahnschrift Light" panose="020B0502040204020203" pitchFamily="34" charset="0"/>
                <a:cs typeface="Arial" panose="020B0604020202020204" pitchFamily="34" charset="0"/>
              </a:rPr>
              <a:t> improves data quality and model performance. Missing values are handled using mean or median imputation, and outliers are identified and removed using statistical methods. Categorical features (e.g., location, air quality category) are encoded numerically, while numerical features are normalized or standardized. Finally, the dataset is split into training and testing sets.</a:t>
            </a:r>
          </a:p>
        </p:txBody>
      </p:sp>
    </p:spTree>
    <p:extLst>
      <p:ext uri="{BB962C8B-B14F-4D97-AF65-F5344CB8AC3E}">
        <p14:creationId xmlns:p14="http://schemas.microsoft.com/office/powerpoint/2010/main" val="2437136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8" name="Content Placeholder 2">
            <a:extLst>
              <a:ext uri="{FF2B5EF4-FFF2-40B4-BE49-F238E27FC236}">
                <a16:creationId xmlns:a16="http://schemas.microsoft.com/office/drawing/2014/main" id="{60187D97-AC02-5BCF-D768-8D617B7921FC}"/>
              </a:ext>
            </a:extLst>
          </p:cNvPr>
          <p:cNvSpPr txBox="1">
            <a:spLocks/>
          </p:cNvSpPr>
          <p:nvPr/>
        </p:nvSpPr>
        <p:spPr>
          <a:xfrm>
            <a:off x="202071" y="1629390"/>
            <a:ext cx="11451665" cy="435133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just"/>
            <a:r>
              <a:rPr lang="en-GB" dirty="0">
                <a:latin typeface="Bahnschrift Light" panose="020B0502040204020203" pitchFamily="34" charset="0"/>
              </a:rPr>
              <a:t>	Rapid urbanization and industrial growth in smart cities have increased air pollution, impacting public health, traffic management, and quality of life. To address this, smart cities need an </a:t>
            </a:r>
            <a:r>
              <a:rPr lang="en-GB" b="1" dirty="0">
                <a:latin typeface="Bahnschrift Light" panose="020B0502040204020203" pitchFamily="34" charset="0"/>
              </a:rPr>
              <a:t>intelligent, data-driven environmental monitoring system</a:t>
            </a:r>
            <a:r>
              <a:rPr lang="en-GB" dirty="0">
                <a:latin typeface="Bahnschrift Light" panose="020B0502040204020203" pitchFamily="34" charset="0"/>
              </a:rPr>
              <a:t> that continuously </a:t>
            </a:r>
            <a:r>
              <a:rPr lang="en-GB" dirty="0" err="1">
                <a:latin typeface="Bahnschrift Light" panose="020B0502040204020203" pitchFamily="34" charset="0"/>
              </a:rPr>
              <a:t>analyzes</a:t>
            </a:r>
            <a:r>
              <a:rPr lang="en-GB" dirty="0">
                <a:latin typeface="Bahnschrift Light" panose="020B0502040204020203" pitchFamily="34" charset="0"/>
              </a:rPr>
              <a:t> air quality and provides early warnings and control recommendations.</a:t>
            </a:r>
            <a:endParaRPr lang="en-US" dirty="0">
              <a:latin typeface="Bahnschrift Light" panose="020B0502040204020203" pitchFamily="34" charset="0"/>
            </a:endParaRPr>
          </a:p>
          <a:p>
            <a:endParaRPr lang="en-US" dirty="0">
              <a:latin typeface="Bahnschrift Light" panose="020B0502040204020203" pitchFamily="34" charset="0"/>
            </a:endParaRPr>
          </a:p>
          <a:p>
            <a:endParaRPr lang="en-US" b="1" dirty="0">
              <a:latin typeface="Bahnschrift Light" panose="020B0502040204020203" pitchFamily="34" charset="0"/>
            </a:endParaRPr>
          </a:p>
          <a:p>
            <a:br>
              <a:rPr lang="en-US" dirty="0">
                <a:latin typeface="Bahnschrift Light" panose="020B0502040204020203" pitchFamily="34" charset="0"/>
              </a:rPr>
            </a:br>
            <a:endParaRPr lang="en-US" dirty="0">
              <a:latin typeface="Bahnschrift Light" panose="020B0502040204020203" pitchFamily="34" charset="0"/>
            </a:endParaRPr>
          </a:p>
        </p:txBody>
      </p:sp>
      <p:sp>
        <p:nvSpPr>
          <p:cNvPr id="10" name="TextBox 9">
            <a:extLst>
              <a:ext uri="{FF2B5EF4-FFF2-40B4-BE49-F238E27FC236}">
                <a16:creationId xmlns:a16="http://schemas.microsoft.com/office/drawing/2014/main" id="{5DB1BC4A-9C06-38DD-7C54-031675AB8B42}"/>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Problem Statement</a:t>
            </a:r>
            <a:endParaRPr lang="en-IN" sz="2000" dirty="0">
              <a:solidFill>
                <a:srgbClr val="213163"/>
              </a:solidFill>
            </a:endParaRPr>
          </a:p>
        </p:txBody>
      </p:sp>
      <p:pic>
        <p:nvPicPr>
          <p:cNvPr id="6" name="Picture 5">
            <a:extLst>
              <a:ext uri="{FF2B5EF4-FFF2-40B4-BE49-F238E27FC236}">
                <a16:creationId xmlns:a16="http://schemas.microsoft.com/office/drawing/2014/main" id="{D9C613F1-7ACA-4CEF-918B-FA080721C6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0700" y="3095625"/>
            <a:ext cx="7524749" cy="322377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066288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9BAD391-0CDD-427D-B517-768356C8E9D4}"/>
              </a:ext>
            </a:extLst>
          </p:cNvPr>
          <p:cNvSpPr/>
          <p:nvPr/>
        </p:nvSpPr>
        <p:spPr>
          <a:xfrm>
            <a:off x="494852" y="1669211"/>
            <a:ext cx="11198710" cy="3605026"/>
          </a:xfrm>
          <a:prstGeom prst="rect">
            <a:avLst/>
          </a:prstGeom>
        </p:spPr>
        <p:txBody>
          <a:bodyPr wrap="square">
            <a:spAutoFit/>
          </a:bodyPr>
          <a:lstStyle/>
          <a:p>
            <a:pPr>
              <a:lnSpc>
                <a:spcPct val="150000"/>
              </a:lnSpc>
            </a:pPr>
            <a:r>
              <a:rPr lang="en-US" sz="2400" b="1" dirty="0">
                <a:latin typeface="Bahnschrift Light" panose="020B0502040204020203" pitchFamily="34" charset="0"/>
              </a:rPr>
              <a:t>Key Objectives:</a:t>
            </a:r>
          </a:p>
          <a:p>
            <a:pPr>
              <a:lnSpc>
                <a:spcPct val="150000"/>
              </a:lnSpc>
            </a:pPr>
            <a:endParaRPr lang="en-US" dirty="0">
              <a:latin typeface="Bahnschrift Light" panose="020B0502040204020203" pitchFamily="34" charset="0"/>
            </a:endParaRPr>
          </a:p>
          <a:p>
            <a:pPr marL="342900" indent="-342900">
              <a:lnSpc>
                <a:spcPct val="150000"/>
              </a:lnSpc>
              <a:buFont typeface="Arial" panose="020B0604020202020204" pitchFamily="34" charset="0"/>
              <a:buChar char="•"/>
            </a:pPr>
            <a:r>
              <a:rPr lang="en-GB" dirty="0">
                <a:latin typeface="Bahnschrift Light" panose="020B0502040204020203" pitchFamily="34" charset="0"/>
              </a:rPr>
              <a:t>Monitor air pollution levels across different zones of a smart city</a:t>
            </a:r>
          </a:p>
          <a:p>
            <a:pPr marL="342900" indent="-342900">
              <a:lnSpc>
                <a:spcPct val="150000"/>
              </a:lnSpc>
              <a:buFont typeface="Arial" panose="020B0604020202020204" pitchFamily="34" charset="0"/>
              <a:buChar char="•"/>
            </a:pPr>
            <a:r>
              <a:rPr lang="en-GB" dirty="0" err="1">
                <a:latin typeface="Bahnschrift Light" panose="020B0502040204020203" pitchFamily="34" charset="0"/>
              </a:rPr>
              <a:t>Analyze</a:t>
            </a:r>
            <a:r>
              <a:rPr lang="en-GB" dirty="0">
                <a:latin typeface="Bahnschrift Light" panose="020B0502040204020203" pitchFamily="34" charset="0"/>
              </a:rPr>
              <a:t> pollution trends using historical and real-time data</a:t>
            </a:r>
          </a:p>
          <a:p>
            <a:pPr marL="342900" indent="-342900">
              <a:lnSpc>
                <a:spcPct val="150000"/>
              </a:lnSpc>
              <a:buFont typeface="Arial" panose="020B0604020202020204" pitchFamily="34" charset="0"/>
              <a:buChar char="•"/>
            </a:pPr>
            <a:r>
              <a:rPr lang="en-GB" dirty="0">
                <a:latin typeface="Bahnschrift Light" panose="020B0502040204020203" pitchFamily="34" charset="0"/>
              </a:rPr>
              <a:t>Predict Air Quality Index (AQI) categories in advance</a:t>
            </a:r>
          </a:p>
          <a:p>
            <a:pPr marL="342900" indent="-342900">
              <a:lnSpc>
                <a:spcPct val="150000"/>
              </a:lnSpc>
              <a:buFont typeface="Arial" panose="020B0604020202020204" pitchFamily="34" charset="0"/>
              <a:buChar char="•"/>
            </a:pPr>
            <a:r>
              <a:rPr lang="en-GB" dirty="0">
                <a:latin typeface="Bahnschrift Light" panose="020B0502040204020203" pitchFamily="34" charset="0"/>
              </a:rPr>
              <a:t>Provide AI-based alerts and pollution control recommendations</a:t>
            </a:r>
          </a:p>
          <a:p>
            <a:pPr marL="342900" indent="-342900">
              <a:lnSpc>
                <a:spcPct val="150000"/>
              </a:lnSpc>
              <a:buFont typeface="Arial" panose="020B0604020202020204" pitchFamily="34" charset="0"/>
              <a:buChar char="•"/>
            </a:pPr>
            <a:r>
              <a:rPr lang="en-GB" dirty="0">
                <a:latin typeface="Bahnschrift Light" panose="020B0502040204020203" pitchFamily="34" charset="0"/>
              </a:rPr>
              <a:t>Support smart governance and citizen awareness</a:t>
            </a:r>
          </a:p>
          <a:p>
            <a:pPr>
              <a:lnSpc>
                <a:spcPct val="150000"/>
              </a:lnSpc>
            </a:pPr>
            <a:endParaRPr lang="en-US" dirty="0">
              <a:latin typeface="Bahnschrift Light" panose="020B0502040204020203" pitchFamily="34" charset="0"/>
            </a:endParaRPr>
          </a:p>
        </p:txBody>
      </p:sp>
    </p:spTree>
    <p:extLst>
      <p:ext uri="{BB962C8B-B14F-4D97-AF65-F5344CB8AC3E}">
        <p14:creationId xmlns:p14="http://schemas.microsoft.com/office/powerpoint/2010/main" val="2218607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365C893-2FDF-21FF-3B51-777D91501B7C}"/>
              </a:ext>
            </a:extLst>
          </p:cNvPr>
          <p:cNvCxnSpPr/>
          <p:nvPr/>
        </p:nvCxnSpPr>
        <p:spPr>
          <a:xfrm>
            <a:off x="0" y="685800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FCC299C6-A902-0E4E-F505-019C3D9286E4}"/>
              </a:ext>
            </a:extLst>
          </p:cNvPr>
          <p:cNvSpPr txBox="1">
            <a:spLocks/>
          </p:cNvSpPr>
          <p:nvPr/>
        </p:nvSpPr>
        <p:spPr>
          <a:xfrm>
            <a:off x="322729" y="1527244"/>
            <a:ext cx="11542955" cy="5092626"/>
          </a:xfrm>
          <a:prstGeom prst="rect">
            <a:avLst/>
          </a:prstGeom>
        </p:spPr>
        <p:txBody>
          <a:bodyPr>
            <a:normAutofit fontScale="9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b="1" dirty="0">
                <a:latin typeface="Bahnschrift Light" panose="020B0502040204020203" pitchFamily="34" charset="0"/>
              </a:rPr>
              <a:t>Approach:</a:t>
            </a:r>
          </a:p>
          <a:p>
            <a:endParaRPr lang="en-US" b="1" dirty="0">
              <a:latin typeface="Bahnschrift Light" panose="020B0502040204020203" pitchFamily="34" charset="0"/>
            </a:endParaRPr>
          </a:p>
          <a:p>
            <a:pPr algn="just"/>
            <a:r>
              <a:rPr lang="en-GB" dirty="0">
                <a:latin typeface="Bahnschrift Light" panose="020B0502040204020203" pitchFamily="34" charset="0"/>
              </a:rPr>
              <a:t>	A data-driven machine learning approach is used to </a:t>
            </a:r>
            <a:r>
              <a:rPr lang="en-GB" dirty="0" err="1">
                <a:latin typeface="Bahnschrift Light" panose="020B0502040204020203" pitchFamily="34" charset="0"/>
              </a:rPr>
              <a:t>analyze</a:t>
            </a:r>
            <a:r>
              <a:rPr lang="en-GB" dirty="0">
                <a:latin typeface="Bahnschrift Light" panose="020B0502040204020203" pitchFamily="34" charset="0"/>
              </a:rPr>
              <a:t> pollution patterns and predict air quality levels, enabling continuous monitoring and early warnings when pollution exceeds safe limits.</a:t>
            </a:r>
            <a:endParaRPr lang="en-US" dirty="0">
              <a:latin typeface="Bahnschrift Light" panose="020B0502040204020203" pitchFamily="34" charset="0"/>
            </a:endParaRPr>
          </a:p>
          <a:p>
            <a:endParaRPr lang="en-US" dirty="0">
              <a:latin typeface="Bahnschrift Light" panose="020B0502040204020203" pitchFamily="34" charset="0"/>
            </a:endParaRPr>
          </a:p>
          <a:p>
            <a:endParaRPr lang="en-US" dirty="0">
              <a:latin typeface="Bahnschrift Light" panose="020B0502040204020203" pitchFamily="34" charset="0"/>
            </a:endParaRPr>
          </a:p>
          <a:p>
            <a:r>
              <a:rPr lang="en-US" b="1" dirty="0">
                <a:latin typeface="Bahnschrift Light" panose="020B0502040204020203" pitchFamily="34" charset="0"/>
              </a:rPr>
              <a:t>Algorithms Used:</a:t>
            </a:r>
            <a:endParaRPr lang="en-US" dirty="0">
              <a:latin typeface="Bahnschrift Light" panose="020B0502040204020203" pitchFamily="34" charset="0"/>
            </a:endParaRPr>
          </a:p>
          <a:p>
            <a:pPr marL="285750" indent="-285750">
              <a:buFont typeface="Arial" panose="020B0604020202020204" pitchFamily="34" charset="0"/>
              <a:buChar char="•"/>
            </a:pPr>
            <a:r>
              <a:rPr lang="en-IN" sz="1800" b="1" dirty="0">
                <a:latin typeface="Bahnschrift Light" panose="020B0502040204020203" pitchFamily="34" charset="0"/>
              </a:rPr>
              <a:t>Random Forest</a:t>
            </a:r>
            <a:r>
              <a:rPr lang="en-IN" sz="1800" dirty="0">
                <a:latin typeface="Bahnschrift Light" panose="020B0502040204020203" pitchFamily="34" charset="0"/>
              </a:rPr>
              <a:t> – for accurate air quality classification</a:t>
            </a:r>
            <a:endParaRPr lang="en-US" dirty="0">
              <a:latin typeface="Bahnschrift Light" panose="020B0502040204020203" pitchFamily="34" charset="0"/>
            </a:endParaRPr>
          </a:p>
          <a:p>
            <a:pPr marL="285750" indent="-285750">
              <a:buFont typeface="Arial" panose="020B0604020202020204" pitchFamily="34" charset="0"/>
              <a:buChar char="•"/>
            </a:pPr>
            <a:r>
              <a:rPr lang="en-IN" sz="2000" b="1" dirty="0">
                <a:latin typeface="Bahnschrift Light" panose="020B0502040204020203" pitchFamily="34" charset="0"/>
              </a:rPr>
              <a:t>Support Vector Machine (SVM)</a:t>
            </a:r>
            <a:r>
              <a:rPr lang="en-IN" sz="2000" dirty="0">
                <a:latin typeface="Bahnschrift Light" panose="020B0502040204020203" pitchFamily="34" charset="0"/>
              </a:rPr>
              <a:t> – for pollution level prediction</a:t>
            </a:r>
          </a:p>
          <a:p>
            <a:pPr marL="285750" indent="-285750">
              <a:buFont typeface="Arial" panose="020B0604020202020204" pitchFamily="34" charset="0"/>
              <a:buChar char="•"/>
            </a:pPr>
            <a:r>
              <a:rPr lang="en-IN" sz="2000" b="1" dirty="0">
                <a:latin typeface="Bahnschrift Light" panose="020B0502040204020203" pitchFamily="34" charset="0"/>
              </a:rPr>
              <a:t>Linear Regression</a:t>
            </a:r>
            <a:r>
              <a:rPr lang="en-IN" sz="2000" dirty="0">
                <a:latin typeface="Bahnschrift Light" panose="020B0502040204020203" pitchFamily="34" charset="0"/>
              </a:rPr>
              <a:t> – for predicting pollutant concentration trends</a:t>
            </a:r>
          </a:p>
          <a:p>
            <a:pPr marL="285750" indent="-285750">
              <a:buFont typeface="Arial" panose="020B0604020202020204" pitchFamily="34" charset="0"/>
              <a:buChar char="•"/>
            </a:pPr>
            <a:r>
              <a:rPr lang="en-IN" sz="2000" b="1" dirty="0">
                <a:latin typeface="Bahnschrift Light" panose="020B0502040204020203" pitchFamily="34" charset="0"/>
              </a:rPr>
              <a:t>K-Means Clustering</a:t>
            </a:r>
            <a:r>
              <a:rPr lang="en-IN" sz="2000" dirty="0">
                <a:latin typeface="Bahnschrift Light" panose="020B0502040204020203" pitchFamily="34" charset="0"/>
              </a:rPr>
              <a:t> – to identify pollution zones in the city</a:t>
            </a:r>
          </a:p>
          <a:p>
            <a:br>
              <a:rPr lang="en-US" dirty="0">
                <a:latin typeface="Bahnschrift Light" panose="020B0502040204020203" pitchFamily="34" charset="0"/>
              </a:rPr>
            </a:br>
            <a:br>
              <a:rPr lang="en-US" dirty="0">
                <a:latin typeface="Bahnschrift Light" panose="020B0502040204020203" pitchFamily="34" charset="0"/>
              </a:rPr>
            </a:br>
            <a:endParaRPr lang="en-US" dirty="0">
              <a:latin typeface="Bahnschrift Light" panose="020B0502040204020203" pitchFamily="34" charset="0"/>
            </a:endParaRPr>
          </a:p>
          <a:p>
            <a:r>
              <a:rPr lang="en-US" b="1" dirty="0">
                <a:latin typeface="Bahnschrift Light" panose="020B0502040204020203" pitchFamily="34" charset="0"/>
              </a:rPr>
              <a:t>Evaluation Metrics:</a:t>
            </a:r>
          </a:p>
          <a:p>
            <a:pPr algn="just"/>
            <a:br>
              <a:rPr lang="en-US" dirty="0">
                <a:latin typeface="Bahnschrift Light" panose="020B0502040204020203" pitchFamily="34" charset="0"/>
              </a:rPr>
            </a:br>
            <a:r>
              <a:rPr lang="en-US" dirty="0">
                <a:latin typeface="Bahnschrift Light" panose="020B0502040204020203" pitchFamily="34" charset="0"/>
              </a:rPr>
              <a:t>	</a:t>
            </a:r>
            <a:r>
              <a:rPr lang="en-GB" dirty="0">
                <a:latin typeface="Bahnschrift Light" panose="020B0502040204020203" pitchFamily="34" charset="0"/>
              </a:rPr>
              <a:t>Accuracy measures the overall correctness of the model’s predictions. Precision and recall evaluate how effectively the system identifies and alerts high pollution conditions. The F1-score represents a balance between precision and recall. RMSE (Root Mean Square Error) is used in regression models to measure the average prediction error.</a:t>
            </a:r>
            <a:endParaRPr lang="en-US" dirty="0">
              <a:latin typeface="Bahnschrift Light" panose="020B0502040204020203" pitchFamily="34" charset="0"/>
            </a:endParaRPr>
          </a:p>
        </p:txBody>
      </p:sp>
      <p:sp>
        <p:nvSpPr>
          <p:cNvPr id="5" name="TextBox 4">
            <a:extLst>
              <a:ext uri="{FF2B5EF4-FFF2-40B4-BE49-F238E27FC236}">
                <a16:creationId xmlns:a16="http://schemas.microsoft.com/office/drawing/2014/main" id="{0A86DC2D-04B5-6DF2-25D3-F5C8914AB624}"/>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Methodology</a:t>
            </a:r>
          </a:p>
        </p:txBody>
      </p:sp>
    </p:spTree>
    <p:extLst>
      <p:ext uri="{BB962C8B-B14F-4D97-AF65-F5344CB8AC3E}">
        <p14:creationId xmlns:p14="http://schemas.microsoft.com/office/powerpoint/2010/main" val="2025430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8ADD651-E02D-6A0F-1E19-CB2116BE51A0}"/>
            </a:ext>
          </a:extLst>
        </p:cNvPr>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C9A7047-C50F-05FB-5166-D8A51220A43E}"/>
              </a:ext>
            </a:extLst>
          </p:cNvPr>
          <p:cNvCxnSpPr/>
          <p:nvPr/>
        </p:nvCxnSpPr>
        <p:spPr>
          <a:xfrm>
            <a:off x="-228600" y="676021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E593AA17-5B15-43A6-7AF2-5319AB973A56}"/>
              </a:ext>
            </a:extLst>
          </p:cNvPr>
          <p:cNvSpPr txBox="1">
            <a:spLocks/>
          </p:cNvSpPr>
          <p:nvPr/>
        </p:nvSpPr>
        <p:spPr>
          <a:xfrm>
            <a:off x="333487" y="1372647"/>
            <a:ext cx="11510682" cy="4987446"/>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just"/>
            <a:r>
              <a:rPr lang="en-GB" dirty="0">
                <a:latin typeface="Bahnschrift Light" panose="020B0502040204020203" pitchFamily="34" charset="0"/>
              </a:rPr>
              <a:t>	The Random Forest model achieved the highest accuracy in classifying air quality levels. Regression models accurately predicted pollution trends with low error rates. Clustering analysis identified high-risk pollution zones, particularly near industrial and traffic-dense areas.</a:t>
            </a:r>
            <a:endParaRPr lang="en-US" dirty="0">
              <a:latin typeface="Bahnschrift Light" panose="020B0502040204020203" pitchFamily="34" charset="0"/>
            </a:endParaRPr>
          </a:p>
          <a:p>
            <a:endParaRPr lang="en-US" dirty="0">
              <a:latin typeface="Bahnschrift Light" panose="020B0502040204020203" pitchFamily="34" charset="0"/>
            </a:endParaRPr>
          </a:p>
          <a:p>
            <a:r>
              <a:rPr lang="en-US" dirty="0">
                <a:latin typeface="Bahnschrift Light" panose="020B0502040204020203" pitchFamily="34" charset="0"/>
              </a:rPr>
              <a:t>Graphs/Visualizations:</a:t>
            </a:r>
          </a:p>
          <a:p>
            <a:br>
              <a:rPr lang="en-US" dirty="0">
                <a:latin typeface="Bahnschrift Light" panose="020B0502040204020203" pitchFamily="34" charset="0"/>
              </a:rPr>
            </a:br>
            <a:endParaRPr lang="en-US" dirty="0">
              <a:latin typeface="Bahnschrift Light" panose="020B0502040204020203" pitchFamily="34" charset="0"/>
            </a:endParaRPr>
          </a:p>
        </p:txBody>
      </p:sp>
      <p:sp>
        <p:nvSpPr>
          <p:cNvPr id="8" name="TextBox 7">
            <a:extLst>
              <a:ext uri="{FF2B5EF4-FFF2-40B4-BE49-F238E27FC236}">
                <a16:creationId xmlns:a16="http://schemas.microsoft.com/office/drawing/2014/main" id="{53DE1687-7F69-BD4F-0FC1-3AFCEDB18C67}"/>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Result</a:t>
            </a:r>
          </a:p>
        </p:txBody>
      </p:sp>
      <p:pic>
        <p:nvPicPr>
          <p:cNvPr id="9" name="Picture 8">
            <a:extLst>
              <a:ext uri="{FF2B5EF4-FFF2-40B4-BE49-F238E27FC236}">
                <a16:creationId xmlns:a16="http://schemas.microsoft.com/office/drawing/2014/main" id="{BEE0955C-E5E3-4529-9B71-0C73DF5BD4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6575" y="2914650"/>
            <a:ext cx="5143499" cy="313371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08175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747AA64-86DA-EEB4-2B58-F5C9F4F6923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20F5C63-CA57-4198-DE09-06B11F8C8ABC}"/>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7" name="TextBox 6">
            <a:extLst>
              <a:ext uri="{FF2B5EF4-FFF2-40B4-BE49-F238E27FC236}">
                <a16:creationId xmlns:a16="http://schemas.microsoft.com/office/drawing/2014/main" id="{0962F5BB-40DE-28E5-9387-A9BF86D34D29}"/>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3">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12" name="Straight Connector 11">
            <a:extLst>
              <a:ext uri="{FF2B5EF4-FFF2-40B4-BE49-F238E27FC236}">
                <a16:creationId xmlns:a16="http://schemas.microsoft.com/office/drawing/2014/main" id="{3B346371-4D57-77A1-882F-B891D0C22F19}"/>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C4C86F6F-7155-7EC3-58B1-50842D7FA97A}"/>
              </a:ext>
            </a:extLst>
          </p:cNvPr>
          <p:cNvSpPr txBox="1">
            <a:spLocks/>
          </p:cNvSpPr>
          <p:nvPr/>
        </p:nvSpPr>
        <p:spPr>
          <a:xfrm>
            <a:off x="344245" y="1825625"/>
            <a:ext cx="11647945" cy="435133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just"/>
            <a:r>
              <a:rPr lang="en-GB" dirty="0">
                <a:latin typeface="Bahnschrift Light" panose="020B0502040204020203" pitchFamily="34" charset="0"/>
              </a:rPr>
              <a:t>	The results demonstrate that machine learning models can effectively </a:t>
            </a:r>
            <a:r>
              <a:rPr lang="en-GB" dirty="0" err="1">
                <a:latin typeface="Bahnschrift Light" panose="020B0502040204020203" pitchFamily="34" charset="0"/>
              </a:rPr>
              <a:t>analyze</a:t>
            </a:r>
            <a:r>
              <a:rPr lang="en-GB" dirty="0">
                <a:latin typeface="Bahnschrift Light" panose="020B0502040204020203" pitchFamily="34" charset="0"/>
              </a:rPr>
              <a:t> complex environmental data and detect pollution spikes early, enabling preventive action by city authorities. However, model accuracy depends on sensor quality and data availability.</a:t>
            </a:r>
            <a:endParaRPr lang="en-US" dirty="0">
              <a:latin typeface="Bahnschrift Light" panose="020B0502040204020203" pitchFamily="34" charset="0"/>
            </a:endParaRPr>
          </a:p>
          <a:p>
            <a:endParaRPr lang="en-US" dirty="0">
              <a:latin typeface="Bahnschrift Light" panose="020B0502040204020203" pitchFamily="34" charset="0"/>
            </a:endParaRPr>
          </a:p>
        </p:txBody>
      </p:sp>
      <p:sp>
        <p:nvSpPr>
          <p:cNvPr id="8" name="TextBox 7">
            <a:extLst>
              <a:ext uri="{FF2B5EF4-FFF2-40B4-BE49-F238E27FC236}">
                <a16:creationId xmlns:a16="http://schemas.microsoft.com/office/drawing/2014/main" id="{C2132A3D-F4D5-4E25-BE28-B9E521F37201}"/>
              </a:ext>
            </a:extLst>
          </p:cNvPr>
          <p:cNvSpPr txBox="1"/>
          <p:nvPr/>
        </p:nvSpPr>
        <p:spPr>
          <a:xfrm>
            <a:off x="202071" y="972537"/>
            <a:ext cx="5904091" cy="400110"/>
          </a:xfrm>
          <a:prstGeom prst="rect">
            <a:avLst/>
          </a:prstGeom>
          <a:noFill/>
        </p:spPr>
        <p:txBody>
          <a:bodyPr wrap="square">
            <a:spAutoFit/>
          </a:bodyPr>
          <a:lstStyle/>
          <a:p>
            <a:r>
              <a:rPr lang="en-IN" sz="2000" b="1" dirty="0">
                <a:solidFill>
                  <a:srgbClr val="213163"/>
                </a:solidFill>
              </a:rPr>
              <a:t>Discussion</a:t>
            </a:r>
            <a:endParaRPr lang="en-IN" sz="2000" dirty="0">
              <a:solidFill>
                <a:srgbClr val="213163"/>
              </a:solidFill>
            </a:endParaRPr>
          </a:p>
        </p:txBody>
      </p:sp>
    </p:spTree>
    <p:extLst>
      <p:ext uri="{BB962C8B-B14F-4D97-AF65-F5344CB8AC3E}">
        <p14:creationId xmlns:p14="http://schemas.microsoft.com/office/powerpoint/2010/main" val="3588832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2231" y="962377"/>
            <a:ext cx="5904091" cy="400110"/>
          </a:xfrm>
          <a:prstGeom prst="rect">
            <a:avLst/>
          </a:prstGeom>
          <a:noFill/>
        </p:spPr>
        <p:txBody>
          <a:bodyPr wrap="square">
            <a:spAutoFit/>
          </a:bodyPr>
          <a:lstStyle/>
          <a:p>
            <a:r>
              <a:rPr lang="en-IN" sz="2000" b="1" dirty="0">
                <a:solidFill>
                  <a:srgbClr val="213163"/>
                </a:solidFill>
              </a:rPr>
              <a:t>Conclusion</a:t>
            </a:r>
            <a:endParaRPr lang="en-IN" sz="2000" dirty="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388194" y="1449258"/>
            <a:ext cx="11275486" cy="1918474"/>
          </a:xfrm>
          <a:prstGeom prst="rect">
            <a:avLst/>
          </a:prstGeom>
          <a:noFill/>
        </p:spPr>
        <p:txBody>
          <a:bodyPr wrap="square" rtlCol="0">
            <a:spAutoFit/>
          </a:bodyPr>
          <a:lstStyle/>
          <a:p>
            <a:pPr lvl="2" algn="just">
              <a:lnSpc>
                <a:spcPct val="150000"/>
              </a:lnSpc>
              <a:spcAft>
                <a:spcPts val="800"/>
              </a:spcAft>
            </a:pPr>
            <a:r>
              <a:rPr lang="en-GB" sz="1600" dirty="0">
                <a:latin typeface="Bahnschrift Light" panose="020B0502040204020203" pitchFamily="34" charset="0"/>
              </a:rPr>
              <a:t>	This study highlights the importance of a data-driven air quality monitoring system for smart cities. Machine learning models effectively </a:t>
            </a:r>
            <a:r>
              <a:rPr lang="en-GB" sz="1600" dirty="0" err="1">
                <a:latin typeface="Bahnschrift Light" panose="020B0502040204020203" pitchFamily="34" charset="0"/>
              </a:rPr>
              <a:t>analyze</a:t>
            </a:r>
            <a:r>
              <a:rPr lang="en-GB" sz="1600" dirty="0">
                <a:latin typeface="Bahnschrift Light" panose="020B0502040204020203" pitchFamily="34" charset="0"/>
              </a:rPr>
              <a:t> pollution data, predict air quality levels, and provide early warnings. The proposed system supports timely decision-making, improves public health awareness, and promotes sustainable urban development, with real-time data further enhancing air quality management and quality of life.</a:t>
            </a:r>
          </a:p>
          <a:p>
            <a:pPr lvl="2">
              <a:spcAft>
                <a:spcPts val="800"/>
              </a:spcAft>
            </a:pPr>
            <a:endParaRPr lang="en-US" sz="1600" dirty="0">
              <a:latin typeface="Bahnschrift Light" panose="020B0502040204020203" pitchFamily="34" charset="0"/>
            </a:endParaRPr>
          </a:p>
        </p:txBody>
      </p:sp>
      <p:cxnSp>
        <p:nvCxnSpPr>
          <p:cNvPr id="10" name="Straight Connector 9">
            <a:extLst>
              <a:ext uri="{FF2B5EF4-FFF2-40B4-BE49-F238E27FC236}">
                <a16:creationId xmlns:a16="http://schemas.microsoft.com/office/drawing/2014/main" id="{6247989A-A2B1-6748-7E8A-F0362FB212B6}"/>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2" name="Picture 1" descr="A light bulb with a black background&#10;&#10;Description automatically generated">
            <a:extLst>
              <a:ext uri="{FF2B5EF4-FFF2-40B4-BE49-F238E27FC236}">
                <a16:creationId xmlns:a16="http://schemas.microsoft.com/office/drawing/2014/main" id="{75F7452F-58BC-17CE-3016-C04F4A0BB586}"/>
              </a:ext>
            </a:extLst>
          </p:cNvPr>
          <p:cNvPicPr>
            <a:picLocks noChangeAspect="1"/>
          </p:cNvPicPr>
          <p:nvPr/>
        </p:nvPicPr>
        <p:blipFill rotWithShape="1">
          <a:blip r:embed="rId3"/>
          <a:srcRect l="7117" t="5427" r="7295" b="7474"/>
          <a:stretch/>
        </p:blipFill>
        <p:spPr>
          <a:xfrm>
            <a:off x="8423236" y="2506534"/>
            <a:ext cx="3487869" cy="3259566"/>
          </a:xfrm>
          <a:prstGeom prst="rect">
            <a:avLst/>
          </a:prstGeom>
        </p:spPr>
      </p:pic>
    </p:spTree>
    <p:extLst>
      <p:ext uri="{BB962C8B-B14F-4D97-AF65-F5344CB8AC3E}">
        <p14:creationId xmlns:p14="http://schemas.microsoft.com/office/powerpoint/2010/main" val="2046321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3" name="TextBox 2">
            <a:extLst>
              <a:ext uri="{FF2B5EF4-FFF2-40B4-BE49-F238E27FC236}">
                <a16:creationId xmlns:a16="http://schemas.microsoft.com/office/drawing/2014/main" id="{02C0F50E-3048-BEA6-6962-A48C023C0388}"/>
              </a:ext>
            </a:extLst>
          </p:cNvPr>
          <p:cNvSpPr txBox="1"/>
          <p:nvPr/>
        </p:nvSpPr>
        <p:spPr>
          <a:xfrm>
            <a:off x="212231" y="962377"/>
            <a:ext cx="5904091" cy="400110"/>
          </a:xfrm>
          <a:prstGeom prst="rect">
            <a:avLst/>
          </a:prstGeom>
          <a:noFill/>
        </p:spPr>
        <p:txBody>
          <a:bodyPr wrap="square">
            <a:spAutoFit/>
          </a:bodyPr>
          <a:lstStyle/>
          <a:p>
            <a:r>
              <a:rPr lang="en-IN" sz="2000" b="1" dirty="0">
                <a:solidFill>
                  <a:srgbClr val="213163"/>
                </a:solidFill>
              </a:rPr>
              <a:t>References</a:t>
            </a:r>
            <a:endParaRPr lang="en-IN" sz="2000" dirty="0">
              <a:solidFill>
                <a:srgbClr val="213163"/>
              </a:solidFill>
            </a:endParaRPr>
          </a:p>
        </p:txBody>
      </p:sp>
      <p:sp>
        <p:nvSpPr>
          <p:cNvPr id="4" name="TextBox 3">
            <a:extLst>
              <a:ext uri="{FF2B5EF4-FFF2-40B4-BE49-F238E27FC236}">
                <a16:creationId xmlns:a16="http://schemas.microsoft.com/office/drawing/2014/main" id="{EC8B546F-F91E-160B-DC7F-688AFB5A50EA}"/>
              </a:ext>
            </a:extLst>
          </p:cNvPr>
          <p:cNvSpPr txBox="1"/>
          <p:nvPr/>
        </p:nvSpPr>
        <p:spPr>
          <a:xfrm>
            <a:off x="1361873" y="1656451"/>
            <a:ext cx="7208196" cy="2031325"/>
          </a:xfrm>
          <a:prstGeom prst="rect">
            <a:avLst/>
          </a:prstGeom>
          <a:noFill/>
        </p:spPr>
        <p:txBody>
          <a:bodyPr wrap="square" rtlCol="0">
            <a:spAutoFit/>
          </a:bodyPr>
          <a:lstStyle/>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800" dirty="0">
                <a:solidFill>
                  <a:schemeClr val="tx1"/>
                </a:solidFill>
                <a:latin typeface="Bahnschrift Light" panose="020B0502040204020203" pitchFamily="34" charset="0"/>
              </a:rPr>
              <a:t>World Health Organization (WHO) – Air Quality Guidelines</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800" dirty="0">
                <a:solidFill>
                  <a:schemeClr val="tx1"/>
                </a:solidFill>
                <a:latin typeface="Bahnschrift Light" panose="020B0502040204020203" pitchFamily="34" charset="0"/>
              </a:rPr>
              <a:t>UCI Machine Learning Repository – Air Quality Dataset</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800" dirty="0" err="1">
                <a:solidFill>
                  <a:schemeClr val="tx1"/>
                </a:solidFill>
                <a:latin typeface="Bahnschrift Light" panose="020B0502040204020203" pitchFamily="34" charset="0"/>
              </a:rPr>
              <a:t>Scikit</a:t>
            </a:r>
            <a:r>
              <a:rPr lang="en-US" altLang="en-US" sz="1800" dirty="0">
                <a:solidFill>
                  <a:schemeClr val="tx1"/>
                </a:solidFill>
                <a:latin typeface="Bahnschrift Light" panose="020B0502040204020203" pitchFamily="34" charset="0"/>
              </a:rPr>
              <a:t>-learn Documentation</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sz="1800" dirty="0">
                <a:solidFill>
                  <a:schemeClr val="tx1"/>
                </a:solidFill>
                <a:latin typeface="Bahnschrift Light" panose="020B0502040204020203" pitchFamily="34" charset="0"/>
              </a:rPr>
              <a:t>Research papers on Smart City Environmental Monitoring</a:t>
            </a:r>
          </a:p>
          <a:p>
            <a:pPr>
              <a:spcAft>
                <a:spcPts val="800"/>
              </a:spcAft>
            </a:pPr>
            <a:endParaRPr lang="en-US" sz="1800" dirty="0">
              <a:latin typeface="Bahnschrift Light" panose="020B0502040204020203" pitchFamily="34" charset="0"/>
            </a:endParaRPr>
          </a:p>
        </p:txBody>
      </p:sp>
    </p:spTree>
    <p:extLst>
      <p:ext uri="{BB962C8B-B14F-4D97-AF65-F5344CB8AC3E}">
        <p14:creationId xmlns:p14="http://schemas.microsoft.com/office/powerpoint/2010/main" val="13079258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61;g5fab984687_2_0">
            <a:extLst>
              <a:ext uri="{FF2B5EF4-FFF2-40B4-BE49-F238E27FC236}">
                <a16:creationId xmlns:a16="http://schemas.microsoft.com/office/drawing/2014/main" id="{0C30A77F-BE9B-73CB-CC7F-A1F8B5B87AB9}"/>
              </a:ext>
            </a:extLst>
          </p:cNvPr>
          <p:cNvSpPr txBox="1">
            <a:spLocks/>
          </p:cNvSpPr>
          <p:nvPr/>
        </p:nvSpPr>
        <p:spPr>
          <a:xfrm>
            <a:off x="3667506" y="5013139"/>
            <a:ext cx="3561588" cy="98704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2800"/>
            </a:pPr>
            <a:r>
              <a:rPr lang="en-US" sz="5000" b="1" dirty="0">
                <a:solidFill>
                  <a:srgbClr val="213163"/>
                </a:solidFill>
              </a:rPr>
              <a:t>Thank You</a:t>
            </a:r>
            <a:endParaRPr lang="en-US" sz="5000" dirty="0"/>
          </a:p>
        </p:txBody>
      </p:sp>
      <p:pic>
        <p:nvPicPr>
          <p:cNvPr id="4" name="Picture 3">
            <a:extLst>
              <a:ext uri="{FF2B5EF4-FFF2-40B4-BE49-F238E27FC236}">
                <a16:creationId xmlns:a16="http://schemas.microsoft.com/office/drawing/2014/main" id="{51AD593D-5F75-4E54-BF53-8EA31C1FA0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7643" y="1465638"/>
            <a:ext cx="7093932" cy="294443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54436512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162bd5b-4ed9-4da3-b376-05204580ba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5" ma:contentTypeDescription="Create a new document." ma:contentTypeScope="" ma:versionID="7670618c03e54fbae4a17ecb2d0ed10f">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3d63de1c5a217044e31e0c8b260d3d71"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706AB80-2608-47D7-8AC8-FA6BC8A9B27C}">
  <ds:schemaRefs>
    <ds:schemaRef ds:uri="http://schemas.microsoft.com/sharepoint/v3/contenttype/forms"/>
  </ds:schemaRefs>
</ds:datastoreItem>
</file>

<file path=customXml/itemProps2.xml><?xml version="1.0" encoding="utf-8"?>
<ds:datastoreItem xmlns:ds="http://schemas.openxmlformats.org/officeDocument/2006/customXml" ds:itemID="{A6559A34-456E-49A1-8157-9E3D18BFAD36}">
  <ds:schemaRefs>
    <ds:schemaRef ds:uri="http://schemas.microsoft.com/office/2006/metadata/properties"/>
    <ds:schemaRef ds:uri="http://purl.org/dc/dcmitype/"/>
    <ds:schemaRef ds:uri="http://purl.org/dc/terms/"/>
    <ds:schemaRef ds:uri="http://schemas.microsoft.com/office/2006/documentManagement/types"/>
    <ds:schemaRef ds:uri="http://schemas.openxmlformats.org/package/2006/metadata/core-properties"/>
    <ds:schemaRef ds:uri="9162bd5b-4ed9-4da3-b376-05204580ba3f"/>
    <ds:schemaRef ds:uri="http://www.w3.org/XML/1998/namespace"/>
    <ds:schemaRef ds:uri="http://purl.org/dc/elements/1.1/"/>
    <ds:schemaRef ds:uri="http://schemas.microsoft.com/office/infopath/2007/PartnerControls"/>
    <ds:schemaRef ds:uri="c0fa2617-96bd-425d-8578-e93563fe37c5"/>
  </ds:schemaRefs>
</ds:datastoreItem>
</file>

<file path=customXml/itemProps3.xml><?xml version="1.0" encoding="utf-8"?>
<ds:datastoreItem xmlns:ds="http://schemas.openxmlformats.org/officeDocument/2006/customXml" ds:itemID="{7D9E5D5E-A365-4A49-8140-C8CC82A61608}">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3792</TotalTime>
  <Words>621</Words>
  <Application>Microsoft Office PowerPoint</Application>
  <PresentationFormat>Widescreen</PresentationFormat>
  <Paragraphs>61</Paragraphs>
  <Slides>12</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Bahnschrift Light</vt:lpstr>
      <vt:lpstr>Times New Roman</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Moinudeen Syed</dc:creator>
  <cp:lastModifiedBy>Pratik Raval</cp:lastModifiedBy>
  <cp:revision>74</cp:revision>
  <dcterms:modified xsi:type="dcterms:W3CDTF">2026-01-13T16:36:40Z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